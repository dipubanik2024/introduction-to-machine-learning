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9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926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66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285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8115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542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501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2876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38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870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120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730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079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172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2073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121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065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6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9391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19805" y="566165"/>
            <a:ext cx="6097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Different</a:t>
            </a:r>
            <a:r>
              <a:rPr sz="1800" spc="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Techniques</a:t>
            </a:r>
            <a:r>
              <a:rPr sz="1800" spc="2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to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Represent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Words</a:t>
            </a:r>
            <a:r>
              <a:rPr sz="1800" spc="-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as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Vectors:</a:t>
            </a:r>
            <a:endParaRPr sz="1800" dirty="0">
              <a:latin typeface="Segoe Print"/>
              <a:cs typeface="Segoe Print"/>
            </a:endParaRPr>
          </a:p>
          <a:p>
            <a:pPr marL="2540" algn="ctr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Vectorizer</a:t>
            </a:r>
            <a:endParaRPr sz="18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5727" y="2227326"/>
            <a:ext cx="102489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Calibri"/>
                <a:cs typeface="Calibri"/>
              </a:rPr>
              <a:t>Word </a:t>
            </a:r>
            <a:r>
              <a:rPr sz="1800" spc="-5" dirty="0">
                <a:latin typeface="Calibri"/>
                <a:cs typeface="Calibri"/>
              </a:rPr>
              <a:t>Embeddings or </a:t>
            </a:r>
            <a:r>
              <a:rPr sz="1800" spc="-30" dirty="0">
                <a:latin typeface="Calibri"/>
                <a:cs typeface="Calibri"/>
              </a:rPr>
              <a:t>Word </a:t>
            </a:r>
            <a:r>
              <a:rPr sz="1800" spc="-10" dirty="0">
                <a:latin typeface="Calibri"/>
                <a:cs typeface="Calibri"/>
              </a:rPr>
              <a:t>vectorization </a:t>
            </a:r>
            <a:r>
              <a:rPr sz="1800" dirty="0">
                <a:latin typeface="Calibri"/>
                <a:cs typeface="Calibri"/>
              </a:rPr>
              <a:t>is a </a:t>
            </a:r>
            <a:r>
              <a:rPr sz="1800" spc="-5" dirty="0">
                <a:latin typeface="Calibri"/>
                <a:cs typeface="Calibri"/>
              </a:rPr>
              <a:t>methodology in </a:t>
            </a:r>
            <a:r>
              <a:rPr sz="1800" dirty="0">
                <a:latin typeface="Calibri"/>
                <a:cs typeface="Calibri"/>
              </a:rPr>
              <a:t>NLP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map </a:t>
            </a:r>
            <a:r>
              <a:rPr sz="1800" spc="-15" dirty="0">
                <a:latin typeface="Calibri"/>
                <a:cs typeface="Calibri"/>
              </a:rPr>
              <a:t>words 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spc="-10" dirty="0">
                <a:latin typeface="Calibri"/>
                <a:cs typeface="Calibri"/>
              </a:rPr>
              <a:t>phrases from </a:t>
            </a:r>
            <a:r>
              <a:rPr sz="1800" spc="-5" dirty="0">
                <a:latin typeface="Calibri"/>
                <a:cs typeface="Calibri"/>
              </a:rPr>
              <a:t>vocabulary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corresponding vector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10" dirty="0">
                <a:latin typeface="Calibri"/>
                <a:cs typeface="Calibri"/>
              </a:rPr>
              <a:t>real numbers </a:t>
            </a:r>
            <a:r>
              <a:rPr sz="1800" spc="-5" dirty="0">
                <a:latin typeface="Calibri"/>
                <a:cs typeface="Calibri"/>
              </a:rPr>
              <a:t>which used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find </a:t>
            </a:r>
            <a:r>
              <a:rPr sz="1800" spc="-15" dirty="0">
                <a:latin typeface="Calibri"/>
                <a:cs typeface="Calibri"/>
              </a:rPr>
              <a:t>word </a:t>
            </a:r>
            <a:r>
              <a:rPr sz="1800" spc="-10" dirty="0">
                <a:latin typeface="Calibri"/>
                <a:cs typeface="Calibri"/>
              </a:rPr>
              <a:t>predictions, </a:t>
            </a:r>
            <a:r>
              <a:rPr sz="1800" spc="-15" dirty="0">
                <a:latin typeface="Calibri"/>
                <a:cs typeface="Calibri"/>
              </a:rPr>
              <a:t>word </a:t>
            </a:r>
            <a:r>
              <a:rPr sz="1800" spc="-5" dirty="0">
                <a:latin typeface="Calibri"/>
                <a:cs typeface="Calibri"/>
              </a:rPr>
              <a:t>similarities/semantics. The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10" dirty="0">
                <a:latin typeface="Calibri"/>
                <a:cs typeface="Calibri"/>
              </a:rPr>
              <a:t>converting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words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called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Vectorization.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979" y="4005245"/>
            <a:ext cx="10341904" cy="16109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70023" y="3052698"/>
            <a:ext cx="829754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Feature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transformation: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transformation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improve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accuracy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algorithm.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Feature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selection:</a:t>
            </a:r>
            <a:r>
              <a:rPr sz="18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removing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unnecessary</a:t>
            </a:r>
            <a:r>
              <a:rPr sz="1800" spc="-10" dirty="0">
                <a:latin typeface="Calibri"/>
                <a:cs typeface="Calibri"/>
              </a:rPr>
              <a:t> features.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Feature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extraction:</a:t>
            </a:r>
            <a:r>
              <a:rPr sz="18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transformation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raw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features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suitable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modeling.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19805" y="566165"/>
            <a:ext cx="6097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Different</a:t>
            </a:r>
            <a:r>
              <a:rPr sz="1800" spc="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Techniques</a:t>
            </a:r>
            <a:r>
              <a:rPr sz="1800" spc="2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to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Represent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Words</a:t>
            </a:r>
            <a:r>
              <a:rPr sz="1800" spc="-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as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Vectors:</a:t>
            </a:r>
            <a:endParaRPr sz="1800" dirty="0">
              <a:latin typeface="Segoe Print"/>
              <a:cs typeface="Segoe Print"/>
            </a:endParaRPr>
          </a:p>
          <a:p>
            <a:pPr marL="2540" algn="ctr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Vectorizer</a:t>
            </a:r>
            <a:endParaRPr sz="1800" dirty="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0019" y="2899028"/>
            <a:ext cx="406844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  <a:tab pos="2109470" algn="l"/>
              </a:tabLst>
            </a:pP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Bag</a:t>
            </a:r>
            <a:r>
              <a:rPr sz="1800" spc="3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of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Words:	Count</a:t>
            </a:r>
            <a:r>
              <a:rPr sz="1800" spc="-6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Vectorizer</a:t>
            </a:r>
            <a:endParaRPr sz="1800" dirty="0">
              <a:latin typeface="Segoe Print"/>
              <a:cs typeface="Segoe Print"/>
            </a:endParaRPr>
          </a:p>
          <a:p>
            <a:pPr marL="299085" indent="-287020">
              <a:lnSpc>
                <a:spcPct val="100000"/>
              </a:lnSpc>
              <a:spcBef>
                <a:spcPts val="216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TF-IDF</a:t>
            </a:r>
            <a:r>
              <a:rPr sz="1800" spc="-4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Vectorizer</a:t>
            </a:r>
            <a:endParaRPr sz="1800" dirty="0">
              <a:latin typeface="Segoe Print"/>
              <a:cs typeface="Segoe Print"/>
            </a:endParaRPr>
          </a:p>
          <a:p>
            <a:pPr marL="299085" indent="-287020">
              <a:lnSpc>
                <a:spcPct val="100000"/>
              </a:lnSpc>
              <a:spcBef>
                <a:spcPts val="216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Word2Vec</a:t>
            </a:r>
            <a:endParaRPr sz="18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19805" y="566165"/>
            <a:ext cx="6097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Different</a:t>
            </a:r>
            <a:r>
              <a:rPr sz="1800" spc="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Techniques</a:t>
            </a:r>
            <a:r>
              <a:rPr sz="1800" spc="2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to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Represent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Words</a:t>
            </a:r>
            <a:r>
              <a:rPr sz="1800" spc="-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as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Vectors:</a:t>
            </a:r>
            <a:endParaRPr sz="1800" dirty="0">
              <a:latin typeface="Segoe Print"/>
              <a:cs typeface="Segoe Print"/>
            </a:endParaRPr>
          </a:p>
          <a:p>
            <a:pPr marL="2540" algn="ctr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Vectorizer</a:t>
            </a:r>
            <a:endParaRPr sz="1800" dirty="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19805" y="566165"/>
            <a:ext cx="6097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Different</a:t>
            </a:r>
            <a:r>
              <a:rPr sz="1800" spc="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Techniques</a:t>
            </a:r>
            <a:r>
              <a:rPr sz="1800" spc="2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to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Represent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Words</a:t>
            </a:r>
            <a:r>
              <a:rPr sz="1800" spc="-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as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Vectors:</a:t>
            </a:r>
            <a:endParaRPr sz="18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Vectorizer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14347" y="3240151"/>
            <a:ext cx="9652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Count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Vectorizer</a:t>
            </a:r>
            <a:r>
              <a:rPr sz="18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great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tool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scikit-learn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library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dirty="0">
                <a:latin typeface="Calibri"/>
                <a:cs typeface="Calibri"/>
              </a:rPr>
              <a:t> Python.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transform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given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text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into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-5" dirty="0">
                <a:latin typeface="Calibri"/>
                <a:cs typeface="Calibri"/>
              </a:rPr>
              <a:t> vector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frequency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(count)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word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occurs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entire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text.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01005" y="2068525"/>
            <a:ext cx="26193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2023"/>
                </a:solidFill>
                <a:latin typeface="Segoe Print"/>
                <a:cs typeface="Segoe Print"/>
              </a:rPr>
              <a:t>Count</a:t>
            </a:r>
            <a:r>
              <a:rPr sz="2400" spc="-5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2400" spc="-5" dirty="0">
                <a:solidFill>
                  <a:srgbClr val="1F2023"/>
                </a:solidFill>
                <a:latin typeface="Segoe Print"/>
                <a:cs typeface="Segoe Print"/>
              </a:rPr>
              <a:t>Vectorizer</a:t>
            </a:r>
            <a:endParaRPr sz="2400" dirty="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4069" y="1822830"/>
            <a:ext cx="2619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2023"/>
                </a:solidFill>
                <a:latin typeface="Segoe Print"/>
                <a:cs typeface="Segoe Print"/>
              </a:rPr>
              <a:t>Count</a:t>
            </a:r>
            <a:r>
              <a:rPr sz="2400" spc="-7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2400" spc="-5" dirty="0">
                <a:solidFill>
                  <a:srgbClr val="1F2023"/>
                </a:solidFill>
                <a:latin typeface="Segoe Print"/>
                <a:cs typeface="Segoe Print"/>
              </a:rPr>
              <a:t>Vectorizer</a:t>
            </a:r>
            <a:endParaRPr sz="24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19805" y="566165"/>
            <a:ext cx="6097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Different</a:t>
            </a:r>
            <a:r>
              <a:rPr sz="1800" spc="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Techniques</a:t>
            </a:r>
            <a:r>
              <a:rPr sz="1800" spc="2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to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Represent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Words</a:t>
            </a:r>
            <a:r>
              <a:rPr sz="1800" spc="-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as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Vectors:</a:t>
            </a:r>
            <a:endParaRPr sz="1800" dirty="0">
              <a:latin typeface="Segoe Print"/>
              <a:cs typeface="Segoe Prin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Vectorizer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2239" y="3707538"/>
            <a:ext cx="7916441" cy="253300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42669" y="1773428"/>
            <a:ext cx="1032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Sen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2386" y="2322067"/>
            <a:ext cx="27984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[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'Hello,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how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you!’,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'Win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money,</a:t>
            </a:r>
            <a:r>
              <a:rPr sz="1800" spc="-5" dirty="0">
                <a:latin typeface="Calibri"/>
                <a:cs typeface="Calibri"/>
              </a:rPr>
              <a:t> win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 </a:t>
            </a:r>
            <a:r>
              <a:rPr sz="1800" spc="-50" dirty="0">
                <a:latin typeface="Calibri"/>
                <a:cs typeface="Calibri"/>
              </a:rPr>
              <a:t>home.’,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'Call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now’,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'Hello,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Call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</a:t>
            </a:r>
            <a:r>
              <a:rPr sz="1800" spc="-5" dirty="0">
                <a:latin typeface="Calibri"/>
                <a:cs typeface="Calibri"/>
              </a:rPr>
              <a:t> tomorrow?’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]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27405" y="4091493"/>
            <a:ext cx="2613025" cy="192341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800" spc="-10" dirty="0">
                <a:latin typeface="Calibri"/>
                <a:cs typeface="Calibri"/>
              </a:rPr>
              <a:t>Hello,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How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you?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800" spc="-5" dirty="0">
                <a:latin typeface="Calibri"/>
                <a:cs typeface="Calibri"/>
              </a:rPr>
              <a:t>Win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money,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win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home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Call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now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Hello,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Call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 tomorrow?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897" y="3648582"/>
            <a:ext cx="2090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Calibri"/>
                <a:cs typeface="Calibri"/>
              </a:rPr>
              <a:t>Term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Frequency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(TF)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94478" y="3648582"/>
            <a:ext cx="3898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Number of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repetition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word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 sentence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06979" y="3998976"/>
            <a:ext cx="3893185" cy="0"/>
          </a:xfrm>
          <a:custGeom>
            <a:avLst/>
            <a:gdLst/>
            <a:ahLst/>
            <a:cxnLst/>
            <a:rect l="l" t="t" r="r" b="b"/>
            <a:pathLst>
              <a:path w="3893185">
                <a:moveTo>
                  <a:pt x="0" y="0"/>
                </a:moveTo>
                <a:lnTo>
                  <a:pt x="3893184" y="0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988691" y="4018026"/>
            <a:ext cx="2121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Calibri"/>
                <a:cs typeface="Calibri"/>
              </a:rPr>
              <a:t>Total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word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sentence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5865" y="1848504"/>
            <a:ext cx="2905423" cy="96795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8631" y="3608933"/>
            <a:ext cx="4954541" cy="238470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019805" y="566165"/>
            <a:ext cx="6097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Different</a:t>
            </a:r>
            <a:r>
              <a:rPr sz="1800" spc="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Techniques</a:t>
            </a:r>
            <a:r>
              <a:rPr sz="1800" spc="2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to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Represent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Words</a:t>
            </a:r>
            <a:r>
              <a:rPr sz="1800" spc="-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as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Vectors:</a:t>
            </a:r>
            <a:endParaRPr sz="1800" dirty="0">
              <a:latin typeface="Segoe Print"/>
              <a:cs typeface="Segoe Prin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Vectorizer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629900" y="4233671"/>
            <a:ext cx="1164590" cy="3829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370840">
              <a:lnSpc>
                <a:spcPts val="2795"/>
              </a:lnSpc>
            </a:pPr>
            <a:r>
              <a:rPr sz="2400" spc="-5" dirty="0">
                <a:latin typeface="Calibri"/>
                <a:cs typeface="Calibri"/>
              </a:rPr>
              <a:t>1/3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8763" y="1767585"/>
            <a:ext cx="5397500" cy="1320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75685">
              <a:lnSpc>
                <a:spcPts val="1855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TF-IDF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Vectorizer</a:t>
            </a:r>
            <a:endParaRPr sz="1800" dirty="0">
              <a:latin typeface="Segoe Print"/>
              <a:cs typeface="Segoe Print"/>
            </a:endParaRPr>
          </a:p>
          <a:p>
            <a:pPr marL="12700">
              <a:lnSpc>
                <a:spcPts val="1855"/>
              </a:lnSpc>
            </a:pPr>
            <a:r>
              <a:rPr sz="1800" b="1" i="1" spc="-10" dirty="0">
                <a:latin typeface="Calibri"/>
                <a:cs typeface="Calibri"/>
              </a:rPr>
              <a:t>Dataset:</a:t>
            </a:r>
            <a:endParaRPr sz="1800" dirty="0">
              <a:latin typeface="Calibri"/>
              <a:cs typeface="Calibri"/>
            </a:endParaRPr>
          </a:p>
          <a:p>
            <a:pPr marL="12700" marR="263207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Sentence1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Love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Bangladesh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Sentence2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Love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Germany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Sentence3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Love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Bangladesh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Germany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69820" y="3998976"/>
            <a:ext cx="2812415" cy="0"/>
          </a:xfrm>
          <a:custGeom>
            <a:avLst/>
            <a:gdLst/>
            <a:ahLst/>
            <a:cxnLst/>
            <a:rect l="l" t="t" r="r" b="b"/>
            <a:pathLst>
              <a:path w="2812415">
                <a:moveTo>
                  <a:pt x="0" y="0"/>
                </a:moveTo>
                <a:lnTo>
                  <a:pt x="2812415" y="0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6604" y="2101810"/>
            <a:ext cx="3139366" cy="115781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39201" y="3817346"/>
            <a:ext cx="4111902" cy="23815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2627" y="566165"/>
            <a:ext cx="8264525" cy="376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662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Different</a:t>
            </a:r>
            <a:r>
              <a:rPr sz="1800" spc="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Techniques</a:t>
            </a:r>
            <a:r>
              <a:rPr sz="1800" spc="2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to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Represent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Words</a:t>
            </a:r>
            <a:r>
              <a:rPr sz="1800" spc="-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as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Vectors:</a:t>
            </a:r>
            <a:endParaRPr sz="1800" dirty="0">
              <a:latin typeface="Segoe Print"/>
              <a:cs typeface="Segoe Print"/>
            </a:endParaRPr>
          </a:p>
          <a:p>
            <a:pPr marL="2169795" algn="ctr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Vectorizer</a:t>
            </a:r>
            <a:endParaRPr sz="1800" dirty="0">
              <a:latin typeface="Segoe Print"/>
              <a:cs typeface="Segoe Prin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00" dirty="0">
              <a:latin typeface="Segoe Print"/>
              <a:cs typeface="Segoe Print"/>
            </a:endParaRPr>
          </a:p>
          <a:p>
            <a:pPr marL="4001770">
              <a:lnSpc>
                <a:spcPts val="1855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TF-IDF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Vectorizer</a:t>
            </a:r>
            <a:endParaRPr sz="1800" dirty="0">
              <a:latin typeface="Segoe Print"/>
              <a:cs typeface="Segoe Print"/>
            </a:endParaRPr>
          </a:p>
          <a:p>
            <a:pPr marL="438784">
              <a:lnSpc>
                <a:spcPts val="1855"/>
              </a:lnSpc>
            </a:pPr>
            <a:r>
              <a:rPr sz="1800" b="1" i="1" spc="-10" dirty="0">
                <a:latin typeface="Calibri"/>
                <a:cs typeface="Calibri"/>
              </a:rPr>
              <a:t>Dataset:</a:t>
            </a:r>
            <a:endParaRPr sz="1800" dirty="0">
              <a:latin typeface="Calibri"/>
              <a:cs typeface="Calibri"/>
            </a:endParaRPr>
          </a:p>
          <a:p>
            <a:pPr marL="438784" marR="507301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Sentence1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Love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Bangladesh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Sentence2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Love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Germany</a:t>
            </a:r>
            <a:endParaRPr sz="1800" dirty="0">
              <a:latin typeface="Calibri"/>
              <a:cs typeface="Calibri"/>
            </a:endParaRPr>
          </a:p>
          <a:p>
            <a:pPr marL="438784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Sentence3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Love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Bangladesh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Germany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 dirty="0">
              <a:latin typeface="Calibri"/>
              <a:cs typeface="Calibri"/>
            </a:endParaRPr>
          </a:p>
          <a:p>
            <a:pPr marL="1751964">
              <a:lnSpc>
                <a:spcPts val="1850"/>
              </a:lnSpc>
            </a:pPr>
            <a:r>
              <a:rPr sz="1800" spc="-40" dirty="0">
                <a:latin typeface="Calibri"/>
                <a:cs typeface="Calibri"/>
              </a:rPr>
              <a:t>Total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sentence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1685"/>
              </a:lnSpc>
            </a:pPr>
            <a:r>
              <a:rPr sz="1800" dirty="0">
                <a:latin typeface="Calibri"/>
                <a:cs typeface="Calibri"/>
              </a:rPr>
              <a:t>IDF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3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log</a:t>
            </a:r>
            <a:endParaRPr sz="1800" dirty="0">
              <a:latin typeface="Calibri"/>
              <a:cs typeface="Calibri"/>
            </a:endParaRPr>
          </a:p>
          <a:p>
            <a:pPr marL="1243330">
              <a:lnSpc>
                <a:spcPts val="2000"/>
              </a:lnSpc>
            </a:pPr>
            <a:r>
              <a:rPr sz="1800" dirty="0">
                <a:latin typeface="Calibri"/>
                <a:cs typeface="Calibri"/>
              </a:rPr>
              <a:t>No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sentence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containing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word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42516" y="3581400"/>
            <a:ext cx="245745" cy="1059180"/>
          </a:xfrm>
          <a:custGeom>
            <a:avLst/>
            <a:gdLst/>
            <a:ahLst/>
            <a:cxnLst/>
            <a:rect l="l" t="t" r="r" b="b"/>
            <a:pathLst>
              <a:path w="245744" h="1059179">
                <a:moveTo>
                  <a:pt x="245363" y="1059180"/>
                </a:moveTo>
                <a:lnTo>
                  <a:pt x="197584" y="1057574"/>
                </a:lnTo>
                <a:lnTo>
                  <a:pt x="158591" y="1053195"/>
                </a:lnTo>
                <a:lnTo>
                  <a:pt x="132314" y="1046696"/>
                </a:lnTo>
                <a:lnTo>
                  <a:pt x="122681" y="1038732"/>
                </a:lnTo>
                <a:lnTo>
                  <a:pt x="122681" y="550037"/>
                </a:lnTo>
                <a:lnTo>
                  <a:pt x="113049" y="542073"/>
                </a:lnTo>
                <a:lnTo>
                  <a:pt x="86772" y="535574"/>
                </a:lnTo>
                <a:lnTo>
                  <a:pt x="47779" y="531195"/>
                </a:lnTo>
                <a:lnTo>
                  <a:pt x="0" y="529589"/>
                </a:lnTo>
                <a:lnTo>
                  <a:pt x="47779" y="527984"/>
                </a:lnTo>
                <a:lnTo>
                  <a:pt x="86772" y="523605"/>
                </a:lnTo>
                <a:lnTo>
                  <a:pt x="113049" y="517106"/>
                </a:lnTo>
                <a:lnTo>
                  <a:pt x="122681" y="509143"/>
                </a:lnTo>
                <a:lnTo>
                  <a:pt x="122681" y="20447"/>
                </a:lnTo>
                <a:lnTo>
                  <a:pt x="132314" y="12483"/>
                </a:lnTo>
                <a:lnTo>
                  <a:pt x="158591" y="5984"/>
                </a:lnTo>
                <a:lnTo>
                  <a:pt x="197584" y="1605"/>
                </a:lnTo>
                <a:lnTo>
                  <a:pt x="245363" y="0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5181600" y="3531108"/>
            <a:ext cx="360045" cy="1109980"/>
          </a:xfrm>
          <a:custGeom>
            <a:avLst/>
            <a:gdLst/>
            <a:ahLst/>
            <a:cxnLst/>
            <a:rect l="l" t="t" r="r" b="b"/>
            <a:pathLst>
              <a:path w="360045" h="1109979">
                <a:moveTo>
                  <a:pt x="0" y="0"/>
                </a:moveTo>
                <a:lnTo>
                  <a:pt x="69996" y="2361"/>
                </a:lnTo>
                <a:lnTo>
                  <a:pt x="127158" y="8794"/>
                </a:lnTo>
                <a:lnTo>
                  <a:pt x="165699" y="18323"/>
                </a:lnTo>
                <a:lnTo>
                  <a:pt x="179832" y="29971"/>
                </a:lnTo>
                <a:lnTo>
                  <a:pt x="179832" y="524763"/>
                </a:lnTo>
                <a:lnTo>
                  <a:pt x="193964" y="536412"/>
                </a:lnTo>
                <a:lnTo>
                  <a:pt x="232505" y="545941"/>
                </a:lnTo>
                <a:lnTo>
                  <a:pt x="289667" y="552374"/>
                </a:lnTo>
                <a:lnTo>
                  <a:pt x="359663" y="554735"/>
                </a:lnTo>
                <a:lnTo>
                  <a:pt x="289667" y="557097"/>
                </a:lnTo>
                <a:lnTo>
                  <a:pt x="232505" y="563530"/>
                </a:lnTo>
                <a:lnTo>
                  <a:pt x="193964" y="573059"/>
                </a:lnTo>
                <a:lnTo>
                  <a:pt x="179832" y="584707"/>
                </a:lnTo>
                <a:lnTo>
                  <a:pt x="179832" y="1079499"/>
                </a:lnTo>
                <a:lnTo>
                  <a:pt x="165699" y="1091148"/>
                </a:lnTo>
                <a:lnTo>
                  <a:pt x="127158" y="1100677"/>
                </a:lnTo>
                <a:lnTo>
                  <a:pt x="69996" y="1107110"/>
                </a:lnTo>
                <a:lnTo>
                  <a:pt x="0" y="1109471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3985" y="5105527"/>
            <a:ext cx="981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TF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*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IDF</a:t>
            </a:r>
            <a:r>
              <a:rPr sz="1800" spc="3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4825" y="4255237"/>
            <a:ext cx="5367116" cy="20869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7097" y="2317495"/>
            <a:ext cx="3757865" cy="14071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58507" y="2300184"/>
            <a:ext cx="2987344" cy="138457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19805" y="566165"/>
            <a:ext cx="6097270" cy="112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Different</a:t>
            </a:r>
            <a:r>
              <a:rPr sz="1800" spc="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Techniques</a:t>
            </a:r>
            <a:r>
              <a:rPr sz="1800" spc="2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to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Represent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Words</a:t>
            </a:r>
            <a:r>
              <a:rPr sz="1800" spc="-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as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Vectors:</a:t>
            </a:r>
            <a:endParaRPr sz="1800" dirty="0">
              <a:latin typeface="Segoe Print"/>
              <a:cs typeface="Segoe Print"/>
            </a:endParaRPr>
          </a:p>
          <a:p>
            <a:pPr marL="2540" algn="ctr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Vectorizer</a:t>
            </a:r>
            <a:endParaRPr sz="1800" dirty="0">
              <a:latin typeface="Segoe Print"/>
              <a:cs typeface="Segoe Print"/>
            </a:endParaRPr>
          </a:p>
          <a:p>
            <a:pPr marL="7620" algn="ctr">
              <a:lnSpc>
                <a:spcPct val="100000"/>
              </a:lnSpc>
              <a:spcBef>
                <a:spcPts val="215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TF-IDF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Vectorizer</a:t>
            </a:r>
            <a:endParaRPr sz="1800" dirty="0">
              <a:latin typeface="Segoe Print"/>
              <a:cs typeface="Segoe Prin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8957" y="1868246"/>
            <a:ext cx="2419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TF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49131" y="1793240"/>
            <a:ext cx="328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IDF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19400" y="3095624"/>
            <a:ext cx="8534400" cy="228600"/>
          </a:xfrm>
          <a:custGeom>
            <a:avLst/>
            <a:gdLst/>
            <a:ahLst/>
            <a:cxnLst/>
            <a:rect l="l" t="t" r="r" b="b"/>
            <a:pathLst>
              <a:path w="8534400" h="228600">
                <a:moveTo>
                  <a:pt x="8534400" y="0"/>
                </a:moveTo>
                <a:lnTo>
                  <a:pt x="7861300" y="0"/>
                </a:lnTo>
                <a:lnTo>
                  <a:pt x="0" y="0"/>
                </a:lnTo>
                <a:lnTo>
                  <a:pt x="0" y="228600"/>
                </a:lnTo>
                <a:lnTo>
                  <a:pt x="7861300" y="228600"/>
                </a:lnTo>
                <a:lnTo>
                  <a:pt x="8534400" y="228600"/>
                </a:lnTo>
                <a:lnTo>
                  <a:pt x="8534400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65124" y="2745740"/>
            <a:ext cx="104451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TF-IDF</a:t>
            </a:r>
            <a:r>
              <a:rPr sz="1800" dirty="0">
                <a:latin typeface="Calibri"/>
                <a:cs typeface="Calibri"/>
              </a:rPr>
              <a:t> is </a:t>
            </a:r>
            <a:r>
              <a:rPr sz="1800" spc="-15" dirty="0">
                <a:latin typeface="Calibri"/>
                <a:cs typeface="Calibri"/>
              </a:rPr>
              <a:t>better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Count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Vectorizers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because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only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focuses</a:t>
            </a:r>
            <a:r>
              <a:rPr sz="1800" spc="-5" dirty="0">
                <a:latin typeface="Calibri"/>
                <a:cs typeface="Calibri"/>
              </a:rPr>
              <a:t> 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frequency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15" dirty="0">
                <a:latin typeface="Calibri"/>
                <a:cs typeface="Calibri"/>
              </a:rPr>
              <a:t>words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present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corpus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but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also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importance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words.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term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"df"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called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document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frequency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which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6300" y="3375025"/>
            <a:ext cx="6489700" cy="228600"/>
          </a:xfrm>
          <a:prstGeom prst="rect">
            <a:avLst/>
          </a:prstGeom>
          <a:solidFill>
            <a:srgbClr val="FFEF66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270">
              <a:lnSpc>
                <a:spcPts val="1625"/>
              </a:lnSpc>
            </a:pP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how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documents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word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"subfield"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present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within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corpus.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9805" y="566165"/>
            <a:ext cx="6097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Different</a:t>
            </a:r>
            <a:r>
              <a:rPr sz="1800" spc="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Techniques</a:t>
            </a:r>
            <a:r>
              <a:rPr sz="1800" spc="2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to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Represent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Words</a:t>
            </a:r>
            <a:r>
              <a:rPr sz="1800" spc="-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as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Vectors:</a:t>
            </a:r>
            <a:endParaRPr sz="1800" dirty="0">
              <a:latin typeface="Segoe Print"/>
              <a:cs typeface="Segoe Prin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73700" y="840181"/>
            <a:ext cx="11925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Vectorizer</a:t>
            </a:r>
            <a:endParaRPr sz="1800" dirty="0">
              <a:latin typeface="Segoe Print"/>
              <a:cs typeface="Segoe Prin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06926" y="1472311"/>
            <a:ext cx="346265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/>
              <a:t>TF-idf</a:t>
            </a:r>
            <a:r>
              <a:rPr sz="2000" dirty="0"/>
              <a:t> vs</a:t>
            </a:r>
            <a:r>
              <a:rPr sz="2000" spc="-20" dirty="0"/>
              <a:t> </a:t>
            </a:r>
            <a:r>
              <a:rPr sz="2000" dirty="0"/>
              <a:t>Count</a:t>
            </a:r>
            <a:r>
              <a:rPr sz="2000" spc="-25" dirty="0"/>
              <a:t> </a:t>
            </a:r>
            <a:r>
              <a:rPr sz="2000" spc="-5" dirty="0"/>
              <a:t>Vectorizer</a:t>
            </a:r>
            <a:endParaRPr sz="2000" dirty="0"/>
          </a:p>
        </p:txBody>
      </p:sp>
      <p:sp>
        <p:nvSpPr>
          <p:cNvPr id="9" name="object 9"/>
          <p:cNvSpPr txBox="1"/>
          <p:nvPr/>
        </p:nvSpPr>
        <p:spPr>
          <a:xfrm>
            <a:off x="770940" y="3823207"/>
            <a:ext cx="10692765" cy="165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028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Can TF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0" dirty="0">
                <a:latin typeface="Calibri"/>
                <a:cs typeface="Calibri"/>
              </a:rPr>
              <a:t> Negative?</a:t>
            </a:r>
            <a:endParaRPr sz="1800" dirty="0">
              <a:latin typeface="Calibri"/>
              <a:cs typeface="Calibri"/>
            </a:endParaRPr>
          </a:p>
          <a:p>
            <a:pPr marL="1297305" marR="809625" indent="-287020">
              <a:lnSpc>
                <a:spcPct val="100000"/>
              </a:lnSpc>
              <a:buFont typeface="Wingdings"/>
              <a:buChar char=""/>
              <a:tabLst>
                <a:tab pos="1297305" algn="l"/>
                <a:tab pos="1297940" algn="l"/>
              </a:tabLst>
            </a:pPr>
            <a:r>
              <a:rPr sz="1800" spc="-5" dirty="0">
                <a:latin typeface="Calibri"/>
                <a:cs typeface="Calibri"/>
              </a:rPr>
              <a:t>No. The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lowest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value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0. </a:t>
            </a:r>
            <a:r>
              <a:rPr sz="1800" spc="-5" dirty="0">
                <a:latin typeface="Calibri"/>
                <a:cs typeface="Calibri"/>
              </a:rPr>
              <a:t>Both </a:t>
            </a:r>
            <a:r>
              <a:rPr sz="1800" spc="-10" dirty="0">
                <a:latin typeface="Calibri"/>
                <a:cs typeface="Calibri"/>
              </a:rPr>
              <a:t>term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frequency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inverse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document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frequency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positive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AI </a:t>
            </a:r>
            <a:r>
              <a:rPr sz="1800" spc="-15" dirty="0">
                <a:latin typeface="Calibri"/>
                <a:cs typeface="Calibri"/>
              </a:rPr>
              <a:t>inference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machine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learning,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sparsity </a:t>
            </a:r>
            <a:r>
              <a:rPr sz="1800" spc="-25" dirty="0">
                <a:latin typeface="Calibri"/>
                <a:cs typeface="Calibri"/>
              </a:rPr>
              <a:t>refers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matrix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includes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zeros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values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will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significantly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impact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calculation.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700" y="3527425"/>
            <a:ext cx="736600" cy="228600"/>
          </a:xfrm>
          <a:custGeom>
            <a:avLst/>
            <a:gdLst/>
            <a:ahLst/>
            <a:cxnLst/>
            <a:rect l="l" t="t" r="r" b="b"/>
            <a:pathLst>
              <a:path w="736600" h="228600">
                <a:moveTo>
                  <a:pt x="736600" y="0"/>
                </a:moveTo>
                <a:lnTo>
                  <a:pt x="0" y="0"/>
                </a:lnTo>
                <a:lnTo>
                  <a:pt x="0" y="228600"/>
                </a:lnTo>
                <a:lnTo>
                  <a:pt x="736600" y="228600"/>
                </a:lnTo>
                <a:lnTo>
                  <a:pt x="736600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282700" y="3527425"/>
            <a:ext cx="9448800" cy="228600"/>
          </a:xfrm>
          <a:custGeom>
            <a:avLst/>
            <a:gdLst/>
            <a:ahLst/>
            <a:cxnLst/>
            <a:rect l="l" t="t" r="r" b="b"/>
            <a:pathLst>
              <a:path w="9448800" h="228600">
                <a:moveTo>
                  <a:pt x="9448800" y="0"/>
                </a:moveTo>
                <a:lnTo>
                  <a:pt x="0" y="0"/>
                </a:lnTo>
                <a:lnTo>
                  <a:pt x="0" y="228600"/>
                </a:lnTo>
                <a:lnTo>
                  <a:pt x="9448800" y="228600"/>
                </a:lnTo>
                <a:lnTo>
                  <a:pt x="9448800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774700" y="3806825"/>
            <a:ext cx="1244600" cy="228600"/>
          </a:xfrm>
          <a:custGeom>
            <a:avLst/>
            <a:gdLst/>
            <a:ahLst/>
            <a:cxnLst/>
            <a:rect l="l" t="t" r="r" b="b"/>
            <a:pathLst>
              <a:path w="1244600" h="228600">
                <a:moveTo>
                  <a:pt x="1244600" y="0"/>
                </a:moveTo>
                <a:lnTo>
                  <a:pt x="0" y="0"/>
                </a:lnTo>
                <a:lnTo>
                  <a:pt x="0" y="228600"/>
                </a:lnTo>
                <a:lnTo>
                  <a:pt x="1244600" y="228600"/>
                </a:lnTo>
                <a:lnTo>
                  <a:pt x="1244600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130300" y="3806825"/>
            <a:ext cx="5880100" cy="228600"/>
          </a:xfrm>
          <a:custGeom>
            <a:avLst/>
            <a:gdLst/>
            <a:ahLst/>
            <a:cxnLst/>
            <a:rect l="l" t="t" r="r" b="b"/>
            <a:pathLst>
              <a:path w="5880100" h="228600">
                <a:moveTo>
                  <a:pt x="5880100" y="0"/>
                </a:moveTo>
                <a:lnTo>
                  <a:pt x="0" y="0"/>
                </a:lnTo>
                <a:lnTo>
                  <a:pt x="0" y="228600"/>
                </a:lnTo>
                <a:lnTo>
                  <a:pt x="5880100" y="228600"/>
                </a:lnTo>
                <a:lnTo>
                  <a:pt x="5880100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4626609" y="2116963"/>
            <a:ext cx="27514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FF0000"/>
                </a:solidFill>
                <a:latin typeface="Segoe Print"/>
                <a:cs typeface="Segoe Print"/>
              </a:rPr>
              <a:t>Word2Vec</a:t>
            </a:r>
            <a:r>
              <a:rPr sz="2000" spc="-70" dirty="0">
                <a:solidFill>
                  <a:srgbClr val="FF0000"/>
                </a:solidFill>
                <a:latin typeface="Segoe Print"/>
                <a:cs typeface="Segoe Print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Segoe Print"/>
                <a:cs typeface="Segoe Print"/>
              </a:rPr>
              <a:t>Vectorizer</a:t>
            </a:r>
            <a:endParaRPr sz="2000" dirty="0">
              <a:latin typeface="Segoe Print"/>
              <a:cs typeface="Segoe Prin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19805" y="566165"/>
            <a:ext cx="6097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Different</a:t>
            </a:r>
            <a:r>
              <a:rPr sz="1800" spc="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Techniques</a:t>
            </a:r>
            <a:r>
              <a:rPr sz="1800" spc="2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to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Represent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Words</a:t>
            </a:r>
            <a:r>
              <a:rPr sz="1800" spc="-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as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Vectors:</a:t>
            </a:r>
            <a:endParaRPr sz="1800" dirty="0">
              <a:latin typeface="Segoe Print"/>
              <a:cs typeface="Segoe Prin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Vectorizer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2711" y="3447110"/>
            <a:ext cx="104882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Word2vec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Neural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processes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text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“vectorizing” </a:t>
            </a:r>
            <a:r>
              <a:rPr sz="1800" spc="-10" dirty="0">
                <a:latin typeface="Calibri"/>
                <a:cs typeface="Calibri"/>
              </a:rPr>
              <a:t>words.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Its </a:t>
            </a:r>
            <a:r>
              <a:rPr sz="1800" spc="-5" dirty="0">
                <a:latin typeface="Calibri"/>
                <a:cs typeface="Calibri"/>
              </a:rPr>
              <a:t>input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text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corpus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output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set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vectors: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feature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vectors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represent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words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corpus.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26609" y="2116963"/>
            <a:ext cx="27514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FF0000"/>
                </a:solidFill>
                <a:latin typeface="Segoe Print"/>
                <a:cs typeface="Segoe Print"/>
              </a:rPr>
              <a:t>Word2Vec</a:t>
            </a:r>
            <a:r>
              <a:rPr sz="2000" spc="-70" dirty="0">
                <a:solidFill>
                  <a:srgbClr val="FF0000"/>
                </a:solidFill>
                <a:latin typeface="Segoe Print"/>
                <a:cs typeface="Segoe Print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Segoe Print"/>
                <a:cs typeface="Segoe Print"/>
              </a:rPr>
              <a:t>Vectorizer</a:t>
            </a:r>
            <a:endParaRPr sz="20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19805" y="566165"/>
            <a:ext cx="6097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Different</a:t>
            </a:r>
            <a:r>
              <a:rPr sz="1800" spc="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Techniques</a:t>
            </a:r>
            <a:r>
              <a:rPr sz="1800" spc="2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to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Represent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Words</a:t>
            </a:r>
            <a:r>
              <a:rPr sz="1800" spc="-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as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Vectors:</a:t>
            </a:r>
            <a:endParaRPr sz="1800" dirty="0">
              <a:latin typeface="Segoe Print"/>
              <a:cs typeface="Segoe Prin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Vectorizer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2641" y="3811866"/>
            <a:ext cx="4203614" cy="21619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676646" y="5831535"/>
            <a:ext cx="12045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Fig: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Word2Vec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66438" y="3361766"/>
            <a:ext cx="5219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Input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860541" y="3361766"/>
            <a:ext cx="6940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Hi</a:t>
            </a:r>
            <a:r>
              <a:rPr sz="1800" spc="-5" dirty="0">
                <a:latin typeface="Calibri"/>
                <a:cs typeface="Calibri"/>
              </a:rPr>
              <a:t>dd</a:t>
            </a:r>
            <a:r>
              <a:rPr sz="1800" dirty="0">
                <a:latin typeface="Calibri"/>
                <a:cs typeface="Calibri"/>
              </a:rPr>
              <a:t>en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40294" y="3361766"/>
            <a:ext cx="691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Output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39132" y="1378965"/>
            <a:ext cx="2752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Segoe Print"/>
                <a:cs typeface="Segoe Print"/>
              </a:rPr>
              <a:t>Word2Vec</a:t>
            </a:r>
            <a:r>
              <a:rPr sz="2000" spc="-75" dirty="0">
                <a:solidFill>
                  <a:srgbClr val="FF0000"/>
                </a:solidFill>
                <a:latin typeface="Segoe Print"/>
                <a:cs typeface="Segoe Print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Segoe Print"/>
                <a:cs typeface="Segoe Print"/>
              </a:rPr>
              <a:t>Vectorizer</a:t>
            </a:r>
            <a:endParaRPr sz="20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19805" y="566165"/>
            <a:ext cx="6097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Different</a:t>
            </a:r>
            <a:r>
              <a:rPr sz="1800" spc="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Techniques</a:t>
            </a:r>
            <a:r>
              <a:rPr sz="1800" spc="2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to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Represent</a:t>
            </a:r>
            <a:r>
              <a:rPr sz="1800" spc="5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Words</a:t>
            </a:r>
            <a:r>
              <a:rPr sz="1800" spc="-10" dirty="0">
                <a:solidFill>
                  <a:srgbClr val="1F2023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F2023"/>
                </a:solidFill>
                <a:latin typeface="Segoe Print"/>
                <a:cs typeface="Segoe Print"/>
              </a:rPr>
              <a:t>as </a:t>
            </a: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Vectors:</a:t>
            </a:r>
            <a:endParaRPr sz="1800" dirty="0">
              <a:latin typeface="Segoe Print"/>
              <a:cs typeface="Segoe Prin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Vectorizer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9504" y="2273807"/>
            <a:ext cx="4146803" cy="397764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96276" y="3583685"/>
            <a:ext cx="4132579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King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Women</a:t>
            </a:r>
            <a:r>
              <a:rPr sz="1800" dirty="0">
                <a:latin typeface="Calibri"/>
                <a:cs typeface="Calibri"/>
              </a:rPr>
              <a:t> 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Queen</a:t>
            </a: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"/>
            </a:pPr>
            <a:endParaRPr sz="175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10" dirty="0">
                <a:latin typeface="Calibri"/>
                <a:cs typeface="Calibri"/>
              </a:rPr>
              <a:t>Prince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Queen</a:t>
            </a:r>
          </a:p>
          <a:p>
            <a:pPr>
              <a:lnSpc>
                <a:spcPct val="100000"/>
              </a:lnSpc>
              <a:buFont typeface="Wingdings"/>
              <a:buChar char=""/>
            </a:pP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"/>
            </a:pPr>
            <a:endParaRPr sz="15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vec(“king”)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5" dirty="0">
                <a:latin typeface="Calibri"/>
                <a:cs typeface="Calibri"/>
              </a:rPr>
              <a:t> vec(“man”)</a:t>
            </a:r>
            <a:r>
              <a:rPr sz="1800" dirty="0">
                <a:latin typeface="Calibri"/>
                <a:cs typeface="Calibri"/>
              </a:rPr>
              <a:t> + </a:t>
            </a:r>
            <a:r>
              <a:rPr sz="1800" spc="-10" dirty="0">
                <a:latin typeface="Calibri"/>
                <a:cs typeface="Calibri"/>
              </a:rPr>
              <a:t>vec(“woman”)</a:t>
            </a:r>
            <a:endParaRPr sz="1800" dirty="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=~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vec(“queen”)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42</TotalTime>
  <Words>551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Garamond</vt:lpstr>
      <vt:lpstr>Segoe Print</vt:lpstr>
      <vt:lpstr>Wingdings</vt:lpstr>
      <vt:lpstr>Organic</vt:lpstr>
      <vt:lpstr>PowerPoint Presentation</vt:lpstr>
      <vt:lpstr>PowerPoint Presentation</vt:lpstr>
      <vt:lpstr>PowerPoint Presentation</vt:lpstr>
      <vt:lpstr>Vectorizer</vt:lpstr>
      <vt:lpstr>Vectorizer</vt:lpstr>
      <vt:lpstr>Vectorizer</vt:lpstr>
      <vt:lpstr>PowerPoint Presentation</vt:lpstr>
      <vt:lpstr>PowerPoint Presentation</vt:lpstr>
      <vt:lpstr>TF-idf vs Count Vectorizer</vt:lpstr>
      <vt:lpstr>Vectorizer</vt:lpstr>
      <vt:lpstr>Vectorizer</vt:lpstr>
      <vt:lpstr>Vectorizer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Microsoft account</cp:lastModifiedBy>
  <cp:revision>2</cp:revision>
  <dcterms:created xsi:type="dcterms:W3CDTF">2023-03-05T16:46:09Z</dcterms:created>
  <dcterms:modified xsi:type="dcterms:W3CDTF">2025-12-12T19:44:54Z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2023-03-05T00:00:00Z</vt:filetime>
  </property>
</Properties>
</file>